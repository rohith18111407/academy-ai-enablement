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6810-25F5-847D-DC81-963AC6F6F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26ED6-8100-6E93-A230-D49849644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46EDA-AAD5-7F69-3689-CB64CA07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287DD-3E57-BBDE-B333-94DD455F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BF159-E8EE-FCD7-CBA4-164C7AD3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2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DFF2-85B1-7F52-0B7E-46CCC241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D070-9566-5294-18F8-3E6C63582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FA0A9-B522-866D-5978-48AA237D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EFE4-3F14-BAB0-F0F2-C0C2C457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5B976-4E91-9F31-8A05-7341EE0B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1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D901-6F35-CDF6-084C-864BA1370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F7636-F63C-04A4-4BE9-ADE4855DF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D4328-5E56-E31B-3341-BC9DAD1F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23370-C06F-2B7F-E56C-538D95C7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2AEFD-17DE-EADB-31F5-4EE4A758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4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C394-879D-8AD7-70D7-45A2EB48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29EE3-50E9-A010-97C5-E3507CBDF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21F29-A869-B9FE-47FA-49C1AE80E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0DFE2-15C6-9D73-81A6-0AE00F43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C41F1-1862-706C-EBC3-EC3FB536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D0055-1695-3F06-2F3A-11A6FB47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9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AB5C-8F53-6BE2-262E-D421C020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BA1CF-C0B7-4EF6-922A-D7D46A0B3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98EC1-73A7-51F0-479F-CEC23E82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007CF-6C2B-A077-A0E2-33FA507A7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0BEAD-1DE6-173E-7621-FE195D730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8B017-4AC5-5E8D-49EE-F5C061AE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95637-A299-FADA-B2B2-44C8DC32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70BB1-3545-C5DA-B012-BAA831D1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0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E66C-A280-C72C-D261-B58C57BF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DEE0F-B134-CF45-75E0-38AE49D3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E9437-679A-A854-2224-64E1ADB9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659A0-793F-5908-BD68-587C3E05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4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3E0B1-83D5-5D81-C2A9-95D53DEA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53A7A-3210-C474-956D-0AD36892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08F2D-A03D-BAA0-C770-2116430E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1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7238-9D9B-49F6-FEB2-364C1EDA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B7275-F321-99C7-AD74-EAD3B9FB8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CEBBD-253B-0179-8DB4-61F06DF5C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94539-191D-C4F7-0DB2-15D091E8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7FAF3-50D3-0951-781A-F552B2F73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5B177-005C-C4B9-B8A9-CA5E744E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9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47EC-EAA8-0462-B405-A3F2262C4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401A0-CD17-FB83-44C2-4A3AD04FD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642ED-19FF-EE8F-3962-D51097FC3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EF8EE-E096-4641-3FCB-B4F7528E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15A39-51C6-AED4-E99E-59D150EB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107DE-0E32-784C-9A45-CE3CF8F0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9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4DF1-33FC-AEA6-D021-519C0525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A9D1A-9BBA-8799-8278-1BA546B39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B8F0-DB1B-3E0E-19EC-0EE6448D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0D62-F7BD-7DC2-6FD6-ADC1CC1F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136-FA07-68FF-CF0E-B70DF9C0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BC2FF8-748F-24D2-373E-E676BB93A1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F5D60-E23F-C52B-56F7-B3591B347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7DDC-554E-0637-3058-612517BC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44C9-8A18-577D-684D-9028973F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944AF-C0B9-6111-8756-51754675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9A925-68B3-0299-10B7-D7D919D1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50A4B-43E5-C35E-5C02-FE80BE99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E55E7-BDF4-27C2-C31B-798CB9492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3B89E-F534-DC4A-9E53-C92FAED3D2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9037E-6CB1-31D7-D828-26CF69C55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2080-16B6-A63D-3A55-37D1CA0F1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4810A-8F44-7D41-9231-F682A0606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7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B285-38D8-16D6-A893-118DD2ACD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Workflow &amp; Agent Integration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B4A8C-1D13-7742-CF1A-8537A2F331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4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B2210-1DA2-8A63-E71C-42A66DE6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FE998-C5CE-DA5D-247D-867CF180D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Take a common process in your role/project/department. </a:t>
            </a:r>
          </a:p>
          <a:p>
            <a:pPr marL="0" indent="0">
              <a:buNone/>
            </a:pPr>
            <a:r>
              <a:rPr lang="en-GB" dirty="0"/>
              <a:t>Design it as a workflow (fixed steps: Step 1 → Step 2 → Step 3) </a:t>
            </a:r>
          </a:p>
          <a:p>
            <a:pPr marL="0" indent="0">
              <a:buNone/>
            </a:pPr>
            <a:r>
              <a:rPr lang="en-GB" dirty="0"/>
              <a:t>Redesign it as an agent (LLM decides: "Based on situation X, I'll use tools Y and Z") </a:t>
            </a:r>
          </a:p>
          <a:p>
            <a:pPr marL="0" indent="0">
              <a:buNone/>
            </a:pPr>
            <a:r>
              <a:rPr lang="en-GB" dirty="0"/>
              <a:t>Compare both integrations and justify when you’d use a predictable workflow vs. a dynamic agent.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2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4DA60-88EB-699A-1E25-86A5C2D0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800" dirty="0"/>
              <a:t>Example Process: </a:t>
            </a:r>
            <a:r>
              <a:rPr lang="en-GB" sz="3800" b="1" dirty="0"/>
              <a:t>Production Data Issue Handling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F210-E132-0D5D-6A6A-FDA9DD8AD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Scenario</a:t>
            </a:r>
          </a:p>
          <a:p>
            <a:r>
              <a:rPr lang="en-GB" dirty="0"/>
              <a:t>A data pipeline fails or produces incorrect data.</a:t>
            </a:r>
          </a:p>
          <a:p>
            <a:r>
              <a:rPr lang="en-GB" dirty="0"/>
              <a:t>Someone needs to </a:t>
            </a:r>
            <a:r>
              <a:rPr lang="en-GB" dirty="0" err="1"/>
              <a:t>analyze</a:t>
            </a:r>
            <a:r>
              <a:rPr lang="en-GB" dirty="0"/>
              <a:t>, triage, and fix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F500-BE6B-B629-A701-7CD678EB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Traditional Workflow Design (Fixed Steps)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9863-52CC-11FB-29D5-D55CED03B3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Linear Workflow</a:t>
            </a:r>
          </a:p>
          <a:p>
            <a:pPr marL="0" indent="0">
              <a:buNone/>
            </a:pPr>
            <a:r>
              <a:rPr lang="en-GB" sz="2400" dirty="0"/>
              <a:t>Characteristics:</a:t>
            </a:r>
          </a:p>
          <a:p>
            <a:pPr marL="514350" indent="-514350">
              <a:buAutoNum type="arabicPeriod"/>
            </a:pPr>
            <a:r>
              <a:rPr lang="en-GB" sz="2400" dirty="0"/>
              <a:t>Everything is </a:t>
            </a:r>
            <a:r>
              <a:rPr lang="en-GB" sz="2400" b="1" dirty="0"/>
              <a:t>predefined</a:t>
            </a:r>
          </a:p>
          <a:p>
            <a:pPr marL="514350" indent="-514350">
              <a:buAutoNum type="arabicPeriod"/>
            </a:pPr>
            <a:r>
              <a:rPr lang="en-GB" sz="2400" dirty="0"/>
              <a:t>Human follows a </a:t>
            </a:r>
            <a:r>
              <a:rPr lang="en-GB" sz="2400" b="1" dirty="0"/>
              <a:t>standard </a:t>
            </a:r>
          </a:p>
          <a:p>
            <a:pPr marL="0" indent="0">
              <a:buNone/>
            </a:pPr>
            <a:r>
              <a:rPr lang="en-GB" sz="2400" b="1" dirty="0"/>
              <a:t>operating procedure</a:t>
            </a:r>
          </a:p>
          <a:p>
            <a:pPr marL="514350" indent="-514350">
              <a:buAutoNum type="arabicPeriod"/>
            </a:pPr>
            <a:r>
              <a:rPr lang="en-GB" sz="2400" dirty="0"/>
              <a:t>Very little deviation</a:t>
            </a:r>
          </a:p>
          <a:p>
            <a:pPr marL="514350" indent="-514350">
              <a:buAutoNum type="arabicPeriod"/>
            </a:pPr>
            <a:r>
              <a:rPr lang="en-GB" sz="2400" dirty="0"/>
              <a:t>No intelligence, </a:t>
            </a:r>
          </a:p>
          <a:p>
            <a:pPr marL="0" indent="0">
              <a:buNone/>
            </a:pPr>
            <a:r>
              <a:rPr lang="en-GB" sz="2400" dirty="0"/>
              <a:t>only instructions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2CA52-CDE2-A529-D661-801F3E08B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351338"/>
          </a:xfrm>
        </p:spPr>
        <p:txBody>
          <a:bodyPr>
            <a:normAutofit fontScale="85000" lnSpcReduction="10000"/>
          </a:bodyPr>
          <a:lstStyle/>
          <a:p>
            <a:r>
              <a:rPr lang="en-GB" sz="2400" dirty="0"/>
              <a:t>Pros :</a:t>
            </a:r>
          </a:p>
          <a:p>
            <a:r>
              <a:rPr lang="en-US" sz="2400" dirty="0"/>
              <a:t>1. </a:t>
            </a:r>
            <a:r>
              <a:rPr lang="en-GB" sz="2400" dirty="0"/>
              <a:t>Predictable</a:t>
            </a:r>
          </a:p>
          <a:p>
            <a:r>
              <a:rPr lang="en-GB" sz="2400" dirty="0"/>
              <a:t>2. Easy to audit</a:t>
            </a:r>
          </a:p>
          <a:p>
            <a:r>
              <a:rPr lang="en-GB" sz="2400" dirty="0"/>
              <a:t>3. Low risk</a:t>
            </a:r>
          </a:p>
          <a:p>
            <a:r>
              <a:rPr lang="en-GB" sz="2400" dirty="0"/>
              <a:t>4. Works well for repetitive known issues</a:t>
            </a:r>
          </a:p>
          <a:p>
            <a:endParaRPr lang="en-GB" sz="2400" dirty="0"/>
          </a:p>
          <a:p>
            <a:r>
              <a:rPr lang="en-US" sz="2400" dirty="0"/>
              <a:t>Cons: </a:t>
            </a:r>
          </a:p>
          <a:p>
            <a:r>
              <a:rPr lang="en-US" sz="2400" dirty="0"/>
              <a:t>1. </a:t>
            </a:r>
            <a:r>
              <a:rPr lang="en-GB" sz="2400" dirty="0"/>
              <a:t>Slow</a:t>
            </a:r>
          </a:p>
          <a:p>
            <a:r>
              <a:rPr lang="en-GB" sz="2400" dirty="0"/>
              <a:t>2. Cannot handle new scenarios</a:t>
            </a:r>
          </a:p>
          <a:p>
            <a:r>
              <a:rPr lang="en-GB" sz="2400" dirty="0"/>
              <a:t>3. Requires manual analysis</a:t>
            </a:r>
          </a:p>
          <a:p>
            <a:r>
              <a:rPr lang="en-GB" sz="2400" dirty="0"/>
              <a:t>4. Depends heavily on individual experience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C3F0E-DDE0-AC42-9135-1D0E0960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593374"/>
            <a:ext cx="1478280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4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E8DF-0FC6-0008-BEB7-160D2E3E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112394"/>
            <a:ext cx="10515600" cy="1325563"/>
          </a:xfrm>
        </p:spPr>
        <p:txBody>
          <a:bodyPr/>
          <a:lstStyle/>
          <a:p>
            <a:r>
              <a:rPr lang="en-GB" dirty="0"/>
              <a:t>Redesign as an AI 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223A-A2AD-D6B6-E4D5-DC0C45038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89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Agent-Based Design</a:t>
            </a:r>
          </a:p>
          <a:p>
            <a:pPr marL="0" indent="0">
              <a:buNone/>
            </a:pPr>
            <a:r>
              <a:rPr lang="en-GB" sz="2000" b="1" dirty="0"/>
              <a:t>Agent </a:t>
            </a:r>
            <a:r>
              <a:rPr lang="en-GB" sz="2000" b="1" dirty="0" err="1"/>
              <a:t>Behavior</a:t>
            </a:r>
            <a:endParaRPr lang="en-GB" sz="2000" b="1" dirty="0"/>
          </a:p>
          <a:p>
            <a:pPr marL="0" indent="0">
              <a:buNone/>
            </a:pPr>
            <a:r>
              <a:rPr lang="en-GB" sz="2000" dirty="0"/>
              <a:t>The agent gets a request like:</a:t>
            </a:r>
          </a:p>
          <a:p>
            <a:pPr marL="0" indent="0">
              <a:buNone/>
            </a:pPr>
            <a:r>
              <a:rPr lang="en-GB" sz="2000" dirty="0"/>
              <a:t>“Data load failed for customer usage pipeline on 19-Jan”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b="1" dirty="0"/>
              <a:t>Agent Thought Process</a:t>
            </a:r>
          </a:p>
          <a:p>
            <a:pPr marL="0" indent="0">
              <a:buNone/>
            </a:pPr>
            <a:r>
              <a:rPr lang="en-GB" sz="2000" b="1" dirty="0"/>
              <a:t>LLM Decision Flow:</a:t>
            </a:r>
            <a:endParaRPr lang="en-GB" sz="2000" dirty="0"/>
          </a:p>
          <a:p>
            <a:r>
              <a:rPr lang="en-GB" sz="2000" dirty="0"/>
              <a:t>“Based on situation X, I will use tools Y and Z”</a:t>
            </a:r>
          </a:p>
          <a:p>
            <a:pPr marL="0" indent="0">
              <a:buNone/>
            </a:pPr>
            <a:endParaRPr lang="en-GB" sz="2000" dirty="0"/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58DB4C-1C2C-1838-A961-153F9E2CEE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03520" y="1029175"/>
            <a:ext cx="3037840" cy="5678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0C3CB-DB7D-8FDC-FED4-3E98138008EB}"/>
              </a:ext>
            </a:extLst>
          </p:cNvPr>
          <p:cNvSpPr txBox="1"/>
          <p:nvPr/>
        </p:nvSpPr>
        <p:spPr>
          <a:xfrm>
            <a:off x="9398000" y="26009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B83F26-0413-43B1-F4DE-5FF07EFAD375}"/>
              </a:ext>
            </a:extLst>
          </p:cNvPr>
          <p:cNvSpPr txBox="1">
            <a:spLocks/>
          </p:cNvSpPr>
          <p:nvPr/>
        </p:nvSpPr>
        <p:spPr>
          <a:xfrm>
            <a:off x="8341360" y="1825625"/>
            <a:ext cx="3205480" cy="4046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Tools the Agent Can Use</a:t>
            </a:r>
          </a:p>
          <a:p>
            <a:r>
              <a:rPr lang="en-GB" sz="2000" dirty="0"/>
              <a:t>Log retrieval API</a:t>
            </a:r>
          </a:p>
          <a:p>
            <a:r>
              <a:rPr lang="en-GB" sz="2000" dirty="0"/>
              <a:t>SQL query tool</a:t>
            </a:r>
          </a:p>
          <a:p>
            <a:r>
              <a:rPr lang="en-GB" sz="2000" dirty="0"/>
              <a:t>Monitoring system</a:t>
            </a:r>
          </a:p>
          <a:p>
            <a:r>
              <a:rPr lang="en-GB" sz="2000" dirty="0"/>
              <a:t>Documentation search</a:t>
            </a:r>
          </a:p>
          <a:p>
            <a:r>
              <a:rPr lang="en-GB" sz="2000" dirty="0"/>
              <a:t>Slack/Email notification tool</a:t>
            </a:r>
          </a:p>
        </p:txBody>
      </p:sp>
    </p:spTree>
    <p:extLst>
      <p:ext uri="{BB962C8B-B14F-4D97-AF65-F5344CB8AC3E}">
        <p14:creationId xmlns:p14="http://schemas.microsoft.com/office/powerpoint/2010/main" val="94000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2C16-8331-93B9-167A-F63C548A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Agent Prompt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BF72-8E40-1F33-3ABC-92D9AF802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Instead of:</a:t>
            </a:r>
          </a:p>
          <a:p>
            <a:pPr marL="0" indent="0">
              <a:buNone/>
            </a:pPr>
            <a:r>
              <a:rPr lang="en-GB" dirty="0"/>
              <a:t>“Follow Step 1, Step 2, Step 3”</a:t>
            </a:r>
          </a:p>
          <a:p>
            <a:pPr marL="0" indent="0">
              <a:buNone/>
            </a:pPr>
            <a:r>
              <a:rPr lang="en-GB" dirty="0"/>
              <a:t>The agent thinks like:</a:t>
            </a:r>
          </a:p>
          <a:p>
            <a:r>
              <a:rPr lang="en-GB" dirty="0"/>
              <a:t>“This looks like a schema change issue → query metadata tool”</a:t>
            </a:r>
          </a:p>
          <a:p>
            <a:r>
              <a:rPr lang="en-GB" dirty="0"/>
              <a:t>“This looks like missing file issue → check S3 bucket”</a:t>
            </a:r>
          </a:p>
          <a:p>
            <a:r>
              <a:rPr lang="en-GB" dirty="0"/>
              <a:t>“This is authentication error → check credentials store”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1D63-9236-D177-A6A1-B6BB7834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Flow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BC572-0092-2910-058A-1623F54D9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“Pipeline XYZ failed”</a:t>
            </a:r>
          </a:p>
          <a:p>
            <a:endParaRPr lang="en-US" dirty="0"/>
          </a:p>
          <a:p>
            <a:r>
              <a:rPr lang="en-US" dirty="0"/>
              <a:t>Agent:</a:t>
            </a:r>
          </a:p>
          <a:p>
            <a:r>
              <a:rPr lang="en-US" dirty="0"/>
              <a:t>   → Classifies issue type</a:t>
            </a:r>
          </a:p>
          <a:p>
            <a:r>
              <a:rPr lang="en-US" dirty="0"/>
              <a:t>   → Decides tools needed</a:t>
            </a:r>
          </a:p>
          <a:p>
            <a:r>
              <a:rPr lang="en-US" dirty="0"/>
              <a:t>   → Runs diagnostics</a:t>
            </a:r>
          </a:p>
          <a:p>
            <a:r>
              <a:rPr lang="en-US" dirty="0"/>
              <a:t>   → Generates fix recommendation</a:t>
            </a:r>
          </a:p>
          <a:p>
            <a:r>
              <a:rPr lang="en-US" dirty="0"/>
              <a:t>   → Optionally auto-remediates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2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BE67-045A-E275-C3A1-D7FEF5C1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62B563-B6C4-CE9A-EE30-FFBA5F6A42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024414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541913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371991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04711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tx2"/>
                          </a:solidFill>
                        </a:rPr>
                        <a:t>Traditional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AI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166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Fixed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Dynamic 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340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3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Human 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17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60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New Issue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046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Auditability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828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877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More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434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33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39F7-F1D8-A580-972C-F15F14C5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What?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3AD30-25F3-8646-EAD9-7D7F1EFDC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Predictable Workflow When: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7E1BC-BD28-E28D-1E61-8D27493AAE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Process is highly regulated</a:t>
            </a:r>
          </a:p>
          <a:p>
            <a:r>
              <a:rPr lang="en-GB" sz="1800" dirty="0"/>
              <a:t>Steps never change</a:t>
            </a:r>
          </a:p>
          <a:p>
            <a:r>
              <a:rPr lang="en-GB" sz="1800" dirty="0"/>
              <a:t>Compliance is critical</a:t>
            </a:r>
          </a:p>
          <a:p>
            <a:r>
              <a:rPr lang="en-GB" sz="1800" dirty="0"/>
              <a:t>No ambiguity</a:t>
            </a:r>
          </a:p>
          <a:p>
            <a:r>
              <a:rPr lang="en-GB" sz="1800" dirty="0"/>
              <a:t>“Known paths with known outcomes”</a:t>
            </a:r>
          </a:p>
          <a:p>
            <a:pPr marL="0" indent="0">
              <a:buNone/>
            </a:pPr>
            <a:r>
              <a:rPr lang="en-GB" sz="1800" dirty="0"/>
              <a:t>Examples </a:t>
            </a:r>
            <a:r>
              <a:rPr lang="en-US" sz="1800" dirty="0"/>
              <a:t>:</a:t>
            </a:r>
          </a:p>
          <a:p>
            <a:pPr marL="514350" indent="-514350">
              <a:buAutoNum type="arabicPeriod"/>
            </a:pPr>
            <a:r>
              <a:rPr lang="en-GB" sz="1800" dirty="0"/>
              <a:t>Upload API</a:t>
            </a:r>
          </a:p>
          <a:p>
            <a:pPr marL="514350" indent="-514350">
              <a:buAutoNum type="arabicPeriod"/>
            </a:pPr>
            <a:r>
              <a:rPr lang="en-GB" sz="1800" dirty="0"/>
              <a:t>Authentication</a:t>
            </a:r>
          </a:p>
          <a:p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5801D-0115-4984-BF95-76B67735A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Use Agent-Based Approach When: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D46317E-D993-7D7F-C8C0-3EFEBEF5F551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2916210"/>
            <a:ext cx="40036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 involve reasoning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possible paths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unstructured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judgment normally required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1800" dirty="0"/>
              <a:t>“Unknown paths requiring reasoning”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GB" sz="1800" dirty="0"/>
              <a:t>File classification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GB" sz="1800" dirty="0"/>
              <a:t>User support emails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GB" sz="1800" dirty="0"/>
              <a:t>Monitoring alerts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60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441</Words>
  <Application>Microsoft Macintosh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Workflow &amp; Agent Integration </vt:lpstr>
      <vt:lpstr>Question</vt:lpstr>
      <vt:lpstr>Example Process: Production Data Issue Handling</vt:lpstr>
      <vt:lpstr>Traditional Workflow Design (Fixed Steps)</vt:lpstr>
      <vt:lpstr>Redesign as an AI Agent</vt:lpstr>
      <vt:lpstr>Example Agent Prompt Logic</vt:lpstr>
      <vt:lpstr>Dynamic Flow Example</vt:lpstr>
      <vt:lpstr>Comparison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M, Rohith</dc:creator>
  <cp:lastModifiedBy>M, Rohith</cp:lastModifiedBy>
  <cp:revision>1</cp:revision>
  <dcterms:created xsi:type="dcterms:W3CDTF">2026-01-20T10:21:00Z</dcterms:created>
  <dcterms:modified xsi:type="dcterms:W3CDTF">2026-01-20T11:02:23Z</dcterms:modified>
</cp:coreProperties>
</file>